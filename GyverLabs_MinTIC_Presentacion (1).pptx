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GyverLabs · Concurso Datos al Ecosistema 2026 — MinTIC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6400800" cy="64008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E2761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CONCURSO DATOS AL ECOSISTEMA 2026 · IA PARA COLOMBIA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GyverLabs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Educativo Inteligente de Alerta Temprana de Deserción,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 Juvenil Territorial y Gestión Institucional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31520" y="388620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Reto: Innovación y Tecnología — Diseñar asistentes virtuales que faciliten el acceso ciudadano a datos abiertos  ·  Nivel: Avanzado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4526280"/>
            <a:ext cx="10241280" cy="0"/>
          </a:xfrm>
          <a:prstGeom prst="line">
            <a:avLst/>
          </a:prstGeom>
          <a:noFill/>
          <a:ln w="12700">
            <a:solidFill>
              <a:srgbClr val="3A43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7091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David Quesada Barrera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50292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y desarrollador — GyverLabs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47091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Katy Álvarez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35040" y="50292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 y Administradora de Empresas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5989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Pablo, Sur de Bolívar, Colombia —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proyecto dentro de una apuesta nacional de datos e IA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Inscripción oficial certificada por el MinTIC el 10 de junio de 2026, en el reto de Innovación y Tecnología. Esta presentación resume, en 15 minutos, un prototipo funcional, evaluable y reproducible.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EEF2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788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4747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977640"/>
            <a:ext cx="2148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problema real, dimensionado con cifras oficiales del DANE y el MEN.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91840" y="24688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EEF2FC"/>
          </a:solidFill>
          <a:ln/>
        </p:spPr>
      </p:sp>
      <p:sp>
        <p:nvSpPr>
          <p:cNvPr id="11" name="Shape 9"/>
          <p:cNvSpPr/>
          <p:nvPr/>
        </p:nvSpPr>
        <p:spPr>
          <a:xfrm>
            <a:off x="3566160" y="2788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0440" y="34747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20440" y="3977640"/>
            <a:ext cx="2148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entrenado y evaluado hoy — no solo una idea en un documento.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35040" y="24688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EEF2FC"/>
          </a:solidFill>
          <a:ln/>
        </p:spPr>
      </p:sp>
      <p:sp>
        <p:nvSpPr>
          <p:cNvPr id="16" name="Shape 14"/>
          <p:cNvSpPr/>
          <p:nvPr/>
        </p:nvSpPr>
        <p:spPr>
          <a:xfrm>
            <a:off x="6309360" y="2788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34747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abiertos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63640" y="3977640"/>
            <a:ext cx="2148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pensada para integrarse con SIMAT, SISBEN, DANE y SECOP II.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778240" y="24688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EEF2FC"/>
          </a:solidFill>
          <a:ln/>
        </p:spPr>
      </p:sp>
      <p:sp>
        <p:nvSpPr>
          <p:cNvPr id="21" name="Shape 19"/>
          <p:cNvSpPr/>
          <p:nvPr/>
        </p:nvSpPr>
        <p:spPr>
          <a:xfrm>
            <a:off x="9052560" y="2788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9052560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006840" y="34747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006840" y="3977640"/>
            <a:ext cx="2148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 colegio piloto a una red departamental y nacional.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RESUMEN EJECUTIVO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es GyverLabs, en una idea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SaaS multi-tenant que integra IA de deserción escolar, Censo Juvenil Territorial, aula virtual coordinada y contabilidad automatizada del FSE — con arquitectura de integración a datos abiertos del Estado.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6974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090672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Riesgo de Deserción semanal por estudiante, con nivel SISBÉN visible.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256032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26974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 Juvenil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74720" y="3090672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Jóvenes fuera del sistema y en zona de riesgo, por departamento y municipio.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256032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26974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Virtual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17920" y="3090672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educativa offline-first para zonas rurales de baja conectividad.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778240" y="256032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0" y="26974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961120" y="3090672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Contabilidad automatizada según el Decreto 4791 de 2008.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343400"/>
            <a:ext cx="10561320" cy="1234440"/>
          </a:xfrm>
          <a:prstGeom prst="roundRect">
            <a:avLst>
              <a:gd name="adj" fmla="val 5926"/>
            </a:avLst>
          </a:prstGeom>
          <a:solidFill>
            <a:srgbClr val="EEF2F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5262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general:  </a:t>
            </a:r>
            <a:pPr indent="0" marL="0"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estudiantes y jóvenes en riesgo con semanas de anticipación y activar una intervención oportuna, sobre un backend FastAPI, un modelo LightGBM entrenado y un tablero institucional en tiempo real.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PLANTEAMIENTO DEL PROBLEMA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no es de datos — es que nadie los cruza a tiempo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09928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9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3,5%–6%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44144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deserción anual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educación pública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14800" y="160020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0" y="1709928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9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114800" y="244144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zonas rurales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Bolívar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680960" y="160020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0" y="1709928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9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Meses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7680960" y="244144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la Secretaría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entere de un caso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291840"/>
            <a:ext cx="10881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SIMAT registra la matrícula, SISBEN clasifica el hogar y cada colegio lleva su propio registro de asistencia — pero ninguna fuente se cruza entre sí de forma sistemática y a tiempo. Y hoy la Secretaría no tiene un mapa territorial de qué jóvenes están fuera del sistema educativo o en zona con alerta de protección activa.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434840"/>
            <a:ext cx="10561320" cy="1554480"/>
          </a:xfrm>
          <a:prstGeom prst="roundRect">
            <a:avLst>
              <a:gd name="adj" fmla="val 4706"/>
            </a:avLst>
          </a:prstGeom>
          <a:solidFill>
            <a:srgbClr val="EEF2F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5720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que este proyecto busca resolver: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48920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¿Puede calcularse un riesgo real con datos que la institución ya genera?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¿Puede una Secretaría priorizar municipios con doble vulnerabilidad — fuera del sistema y en zona de riesgo?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¿Puede una arquitectura multi-tenant servir a muchas instituciones sin infraestructura adicional?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CONJUNTO DE DATOS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corre hoy en el prototipo, y con qué se integra después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0881360" cy="2834640"/>
        </p:xfrm>
        <a:graphic>
          <a:graphicData uri="http://schemas.openxmlformats.org/drawingml/2006/table">
            <a:tbl>
              <a:tblPr/>
              <a:tblGrid>
                <a:gridCol w="3291840"/>
                <a:gridCol w="4023360"/>
                <a:gridCol w="3566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sintético (seed_data.py)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Generado por GyverLabs — 840 estudiantes, sin datos reales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Reproducible — 1 comando, semilla fija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Ministerio de Educación Nacional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Integración futura — requiere convenio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SISBEN IV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DNP — datos abiertos, Ley 1581/2012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 modelado como variable en el prototipo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 / DANE / MEN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Estadísticas y alertas oficiales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Público — datos.gov.co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SECOP II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Colombia Compra Eficiente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Público — verificación de precios de mercado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617720"/>
            <a:ext cx="1056132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47365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del dataset sintético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507492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840 estudiantes  ·  50.400 registros de asistencia  ·  10.080 registros de notas  ·  42 movimientos FSE  ·  censo juvenil en 2 departamentos y 8 municipios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PROPUESTA DE VALOR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¿Cuál es la solución, y por qué es diferente?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que calcula, cada semana y por estudiante, un puntaje de riesgo a partir de datos que la institución ya recolecta, y lo entrega priorizado a quien puede actuar — junto con censo territorial, aula virtual y contabilidad FSE.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EEF2F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6517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meses a la misma semana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22783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patrón de riesgo se detecta antes del abandono, no después.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0" y="251460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EEF2FC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26517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territorial para la Secretaría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0" y="322783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colegios y municipios, en tiempo real, hoy inexistente.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680960" y="251460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EEF2FC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0" y="26517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riesgo fiscal para el rector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863840" y="322783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FSE trazable, alineado al Decreto 4791 de 2008.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1056132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3891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Diferenciador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470916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plataforma del mercado colombiano integra gestión académica, IA de deserción, censo juvenil territorial, aula virtual y contabilidad FSE en un solo sistema — y este está validado, además del desarrollador, por una docente en ejercicio.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05.1 · EVIDENCIA DE MERCADO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Precios reales, verificables — no cifras inventadas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0881360" cy="237744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  <a:gridCol w="26517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Necesidad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Mercado colombiano (verificado)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GyverLabs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Gestión académica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Q10 / Phidias — cotización cerrada, sin precio público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Incluido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Contabilidad FSE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Siigo Nube $145.993–$207.869/mes · Alegra $69.900–$279.900/mes — sin plan de cuentas del Decreto 4791/2008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Incluido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predictiva + censo territorial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oferta comercial madura para el sector público hoy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Prototipo evaluable en este repositorio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16052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EEF2FC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431596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anual — todo por separado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470916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$25M–$40M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777240" y="53949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COP/año, sistemas que no hablan entre sí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06440" y="416052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6035040" y="431596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anual — GyverLabs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035040" y="470916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9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$14,4M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6035040" y="5394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COP/año, todo integrado en un solo sistema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METODOLOGÍA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CRISP-DM — las 6 fases estándar de la industria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EEF2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80136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Problema, objetivo y criterio de éxito definidos.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23944" y="160020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EEF2FC"/>
          </a:solidFill>
          <a:ln/>
        </p:spPr>
      </p:sp>
      <p:sp>
        <p:nvSpPr>
          <p:cNvPr id="10" name="Shape 8"/>
          <p:cNvSpPr/>
          <p:nvPr/>
        </p:nvSpPr>
        <p:spPr>
          <a:xfrm>
            <a:off x="4352544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352544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46904" y="180136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52544" y="24231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reales y abiertas identificadas; dataset sintético como proxy.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699248" y="160020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EEF2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927848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927848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22208" y="180136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927848" y="24231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variables por estudiante (ml/features.py), incluido nivel SISBÉN.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EEF2FC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37947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376732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" y="43891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LightGBM, validación holdout 25%, semilla fija.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123944" y="356616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EEF2FC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37947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352544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946904" y="376732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352544" y="43891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AUC-ROC, accuracy, precisión y recall reales.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699248" y="356616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EEF2FC"/>
          </a:solidFill>
          <a:ln/>
        </p:spPr>
      </p:sp>
      <p:sp>
        <p:nvSpPr>
          <p:cNvPr id="30" name="Shape 28"/>
          <p:cNvSpPr/>
          <p:nvPr/>
        </p:nvSpPr>
        <p:spPr>
          <a:xfrm>
            <a:off x="7927848" y="37947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7927848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522208" y="376732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927848" y="43891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+ dashboard en vivo; hoja de ruta a 12 meses.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ARQUITECTURA Y TECNOLOGÍA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Multi-tenant: un mismo backend, N instituciones aisladas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37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130552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 · SQLAlchemy — API REST documentada (OpenAPI/Swagger), 9 routers.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89320" y="1600200"/>
            <a:ext cx="5120640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0" y="1737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0" y="2130552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en evaluación (cero dependencias) · PostgreSQL multi-schema en producción.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5120640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2461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IA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639312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para el Score de Riesgo, con nivel SISBÉN · hoja de ruta: Transformers y LSTM.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89320" y="3108960"/>
            <a:ext cx="5120640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32461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3639312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web con datos en vivo + respaldo local — sin punto único de falla.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892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módulos comparten el mismo motor: SRD, Censo Juvenil Territorial, Aula Virtual y Contabilidad FSE, más un Agente de Orientación Estudiantil como capa de acceso ciudadano. Diagrama completo en docs/ARQUITECTURA.md.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EVIDENCIA Y DEMOSTRACIÓN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Prototipo 100% local — control de riesgo técnico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EEF2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general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calor de riesgo por grado y KPIs, calculados en vivo.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60020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EEF2FC"/>
          </a:solidFill>
          <a:ln/>
        </p:spPr>
      </p:sp>
      <p:sp>
        <p:nvSpPr>
          <p:cNvPr id="10" name="Shape 8"/>
          <p:cNvSpPr/>
          <p:nvPr/>
        </p:nvSpPr>
        <p:spPr>
          <a:xfrm>
            <a:off x="3520440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24688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accionable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474720" y="28803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en un estudiante → factores del riesgo, incluido el SISBÉN.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60020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EEF2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263640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17920" y="24688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 territorial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217920" y="28803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por municipio → jóvenes fuera del sistema y en zona de riesgo.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778240" y="160020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EEF2FC"/>
          </a:solidFill>
          <a:ln/>
        </p:spPr>
      </p:sp>
      <p:sp>
        <p:nvSpPr>
          <p:cNvPr id="20" name="Shape 18"/>
          <p:cNvSpPr/>
          <p:nvPr/>
        </p:nvSpPr>
        <p:spPr>
          <a:xfrm>
            <a:off x="9006840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0068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961120" y="24688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técnica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961120" y="28803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 en vivo a /srd/ranking en Swagger — datos reales, no estáticos.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886200"/>
            <a:ext cx="10561320" cy="2057400"/>
          </a:xfrm>
          <a:prstGeom prst="roundRect">
            <a:avLst>
              <a:gd name="adj" fmla="val 3556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0233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 de la demo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4389120"/>
            <a:ext cx="100584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100% local, sin depender de internet  ·  Datos sintéticos, nunca datos reales de menores  ·  Segundo computador de respaldo  ·  Dashboard con datos de respaldo si el backend falla  ·  Video de la demo grabado con antelación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RESULTADOS CUANTITATIVOS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modelo detecta 8 de cada 10 estudiantes en riesgo real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383280" cy="1874520"/>
          </a:xfrm>
          <a:prstGeom prst="roundRect">
            <a:avLst>
              <a:gd name="adj" fmla="val 4878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79,2%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casos de riesgo real, detectados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60520" y="1508760"/>
            <a:ext cx="2194560" cy="1874520"/>
          </a:xfrm>
          <a:prstGeom prst="roundRect">
            <a:avLst>
              <a:gd name="adj" fmla="val 4878"/>
            </a:avLst>
          </a:prstGeom>
          <a:solidFill>
            <a:srgbClr val="EEF2FC"/>
          </a:solidFill>
          <a:ln/>
        </p:spPr>
      </p:sp>
      <p:sp>
        <p:nvSpPr>
          <p:cNvPr id="9" name="Text 7"/>
          <p:cNvSpPr/>
          <p:nvPr/>
        </p:nvSpPr>
        <p:spPr>
          <a:xfrm>
            <a:off x="4160520" y="1764792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16052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37960" y="1508760"/>
            <a:ext cx="2194560" cy="1874520"/>
          </a:xfrm>
          <a:prstGeom prst="roundRect">
            <a:avLst>
              <a:gd name="adj" fmla="val 4878"/>
            </a:avLst>
          </a:prstGeom>
          <a:solidFill>
            <a:srgbClr val="EEF2FC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764792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27,1%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53796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915400" y="1508760"/>
            <a:ext cx="2194560" cy="1874520"/>
          </a:xfrm>
          <a:prstGeom prst="roundRect">
            <a:avLst>
              <a:gd name="adj" fmla="val 4878"/>
            </a:avLst>
          </a:prstGeom>
          <a:solidFill>
            <a:srgbClr val="EEF2FC"/>
          </a:solidFill>
          <a:ln/>
        </p:spPr>
      </p:sp>
      <p:sp>
        <p:nvSpPr>
          <p:cNvPr id="15" name="Text 13"/>
          <p:cNvSpPr/>
          <p:nvPr/>
        </p:nvSpPr>
        <p:spPr>
          <a:xfrm>
            <a:off x="8915400" y="1764792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66,9%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91540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35204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169 estudiantes de prueba (holdout, entrenado con 507) — ver backend/ml/metrics_demo.json. El umbral de operación (0,14) se elige automáticamente para priorizar recall: en un sistema de alerta temprana, dejar pasar un estudiante en riesgo real cuesta mucho más que revisar a uno que finalmente no lo estaba.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434840"/>
            <a:ext cx="10561320" cy="1508760"/>
          </a:xfrm>
          <a:prstGeom prst="roundRect">
            <a:avLst>
              <a:gd name="adj" fmla="val 4848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5720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significa en la práctica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48920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prioriza para revisión al 41% de los estudiantes de un curso — casi el doble de frecuencia que una selección al azar frente a la tasa real de casos (14,2%) — y con eso captura 8 de cada 10 estudiantes que sí están en riesgo. Variables de mayor peso: asistencia de las últimas 4 semanas, caída de asistencia, promedio académico y tendencia de notas.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PROPIEDAD INTELECTUAL Y LICENCIA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sistema protegido — con reglas claras para el jurado y para terceros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EEF2FC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874520"/>
            <a:ext cx="3026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Titularidad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49808" y="2377440"/>
            <a:ext cx="302666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David Quesada Barrera es el único propietario intelectual de GyverLabs: código, arquitectura, modelos de IA y marca.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0" y="1691640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EEF2FC"/>
          </a:solidFill>
          <a:ln/>
        </p:spPr>
      </p:sp>
      <p:sp>
        <p:nvSpPr>
          <p:cNvPr id="8" name="Text 6"/>
          <p:cNvSpPr/>
          <p:nvPr/>
        </p:nvSpPr>
        <p:spPr>
          <a:xfrm>
            <a:off x="4315968" y="1874520"/>
            <a:ext cx="3026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de evaluación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315968" y="2377440"/>
            <a:ext cx="302666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 de evaluación GyverLabs v1.0 (ver LICENSE): autoriza al jurado leer, clonar y ejecutar el código solo para evaluar — no para copiar, redistribuir ni usar comercialmente.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80960" y="1691640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882128" y="1874520"/>
            <a:ext cx="3026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por terceros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882128" y="2377440"/>
            <a:ext cx="302666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réplica, implementación institucional o uso comercial requiere autorización escrita y licenciamiento pagado del autor.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10561320" cy="1325880"/>
          </a:xfrm>
          <a:prstGeom prst="roundRect">
            <a:avLst>
              <a:gd name="adj" fmla="val 5517"/>
            </a:avLst>
          </a:prstGeom>
          <a:solidFill>
            <a:srgbClr val="FBF3E3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7091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protegidos (stubs documentados, fuera del repositorio público): el conjunto completo de variables de producción, la calibración de umbral por institución, la explicabilidad del modelo y la lógica exacta de cruce con SIMAT / SISBÉN / DANE / SECOP II.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IMPACTO ESPERADO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Social, económico y ambiental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2926080"/>
          </a:xfrm>
          <a:prstGeom prst="roundRect">
            <a:avLst>
              <a:gd name="adj" fmla="val 2500"/>
            </a:avLst>
          </a:prstGeom>
          <a:solidFill>
            <a:srgbClr val="EEF2FC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874520"/>
            <a:ext cx="3026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9808" y="2423160"/>
            <a:ext cx="302666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educativa; visibilidad territorial de jóvenes en riesgo; datos de menores protegidos bajo la Ley 1581 de 2012.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0" y="1691640"/>
            <a:ext cx="3429000" cy="2926080"/>
          </a:xfrm>
          <a:prstGeom prst="roundRect">
            <a:avLst>
              <a:gd name="adj" fmla="val 2500"/>
            </a:avLst>
          </a:prstGeom>
          <a:solidFill>
            <a:srgbClr val="EEF2FC"/>
          </a:solidFill>
          <a:ln/>
        </p:spPr>
      </p:sp>
      <p:sp>
        <p:nvSpPr>
          <p:cNvPr id="8" name="Text 6"/>
          <p:cNvSpPr/>
          <p:nvPr/>
        </p:nvSpPr>
        <p:spPr>
          <a:xfrm>
            <a:off x="4315968" y="1874520"/>
            <a:ext cx="3026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Económico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15968" y="2423160"/>
            <a:ext cx="302666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costo total que contratar módulos por separado; retención de matrícula y recursos SGP (Ley 715/2001).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680960" y="1691640"/>
            <a:ext cx="3429000" cy="2926080"/>
          </a:xfrm>
          <a:prstGeom prst="roundRect">
            <a:avLst>
              <a:gd name="adj" fmla="val 2500"/>
            </a:avLst>
          </a:prstGeom>
          <a:solidFill>
            <a:srgbClr val="EEF2FC"/>
          </a:solidFill>
          <a:ln/>
        </p:spPr>
      </p:sp>
      <p:sp>
        <p:nvSpPr>
          <p:cNvPr id="11" name="Text 9"/>
          <p:cNvSpPr/>
          <p:nvPr/>
        </p:nvSpPr>
        <p:spPr>
          <a:xfrm>
            <a:off x="7882128" y="1874520"/>
            <a:ext cx="3026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82128" y="2423160"/>
            <a:ext cx="302666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papel en asistencia y boletines; menos desplazamientos físicos en zonas rurales dispersas.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6400800" cy="64008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SAN PABLO, BOLÍVAR, PARA TODA COLOMBIA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prototipo evaluable hoy,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hoja de ruta a una red nacional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411480" cy="411480"/>
          </a:xfrm>
          <a:prstGeom prst="ellipse">
            <a:avLst/>
          </a:prstGeom>
          <a:solidFill>
            <a:srgbClr val="C8952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834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27889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del jurado — código, demo y documentación disponibles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31520" y="3456432"/>
            <a:ext cx="411480" cy="411480"/>
          </a:xfrm>
          <a:prstGeom prst="ellipse">
            <a:avLst/>
          </a:prstGeom>
          <a:solidFill>
            <a:srgbClr val="C8952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4564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341071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formal con al menos una institución educativa pública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31520" y="4078224"/>
            <a:ext cx="411480" cy="411480"/>
          </a:xfrm>
          <a:prstGeom prst="ellipse">
            <a:avLst/>
          </a:prstGeom>
          <a:solidFill>
            <a:srgbClr val="C8952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0782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4032504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Convenio institucional para integración real con SIMAT y SISBEN IV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31520" y="4700016"/>
            <a:ext cx="411480" cy="411480"/>
          </a:xfrm>
          <a:prstGeom prst="ellipse">
            <a:avLst/>
          </a:prstGeom>
          <a:solidFill>
            <a:srgbClr val="C8952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7000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465429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Escalamiento departamental y, después, nacional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31520" y="5623560"/>
            <a:ext cx="10241280" cy="0"/>
          </a:xfrm>
          <a:prstGeom prst="line">
            <a:avLst/>
          </a:prstGeom>
          <a:noFill/>
          <a:ln w="12700">
            <a:solidFill>
              <a:srgbClr val="3A43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David Quesada Barrera (Desarrollador)  ·  Katy Álvarez (Docente y Administradora de Empresas)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610819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Pablo, Bolívar — Colombia  ·  Concurso Datos al Ecosistema 2026, MinTIC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2026-07-31T03:55:20Z</dcterms:created>
  <dcterms:modified xsi:type="dcterms:W3CDTF">2026-07-31T03:55:20Z</dcterms:modified>
</cp:coreProperties>
</file>